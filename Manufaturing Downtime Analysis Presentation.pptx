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grandir Bold" charset="1" panose="00000800000000000000"/>
      <p:regular r:id="rId33"/>
    </p:embeddedFont>
    <p:embeddedFont>
      <p:font typeface="Poppins Bold" charset="1" panose="00000800000000000000"/>
      <p:regular r:id="rId34"/>
    </p:embeddedFont>
    <p:embeddedFont>
      <p:font typeface="Poppins" charset="1" panose="00000500000000000000"/>
      <p:regular r:id="rId35"/>
    </p:embeddedFont>
    <p:embeddedFont>
      <p:font typeface="Canva Sans" charset="1" panose="020B0503030501040103"/>
      <p:regular r:id="rId36"/>
    </p:embeddedFont>
    <p:embeddedFont>
      <p:font typeface="Arimo" charset="1" panose="020B0604020202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slide20.xml" Type="http://schemas.openxmlformats.org/officeDocument/2006/relationships/slide"/><Relationship Id="rId12" Target="slide11.xml" Type="http://schemas.openxmlformats.org/officeDocument/2006/relationships/slide"/><Relationship Id="rId2" Target="slide4.xml" Type="http://schemas.openxmlformats.org/officeDocument/2006/relationships/slide"/><Relationship Id="rId3" Target="slide8.xml" Type="http://schemas.openxmlformats.org/officeDocument/2006/relationships/slide"/><Relationship Id="rId4" Target="slide5.xml" Type="http://schemas.openxmlformats.org/officeDocument/2006/relationships/slide"/><Relationship Id="rId5" Target="slide6.xml" Type="http://schemas.openxmlformats.org/officeDocument/2006/relationships/slide"/><Relationship Id="rId6" Target="slide18.xml" Type="http://schemas.openxmlformats.org/officeDocument/2006/relationships/slid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pp.powerbi.com/groups/a5f5ed24-53ab-42ef-8db8-8bc519037fc7/reports/b9188c76-313b-480e-8637-68865a4dc7e8/fd7318feb487626f725a?bookmarkGuid=6dd30ac4-d0a6-4f37-9674-8ea0780c5d33&amp;bookmarkUsage=1&amp;ctid=3375ebbd-5478-4a8b-a48a-1c135c4abbf0&amp;portalSessionId=c6e96d7f-788d-4868-b6fc-8d85ff958f92&amp;fromEntryPoint=export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3061" y="-202327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7" y="0"/>
                </a:lnTo>
                <a:lnTo>
                  <a:pt x="52342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58209" y="1602737"/>
            <a:ext cx="2429896" cy="1910207"/>
          </a:xfrm>
          <a:custGeom>
            <a:avLst/>
            <a:gdLst/>
            <a:ahLst/>
            <a:cxnLst/>
            <a:rect r="r" b="b" t="t" l="l"/>
            <a:pathLst>
              <a:path h="1910207" w="2429896">
                <a:moveTo>
                  <a:pt x="0" y="0"/>
                </a:moveTo>
                <a:lnTo>
                  <a:pt x="2429896" y="0"/>
                </a:lnTo>
                <a:lnTo>
                  <a:pt x="2429896" y="1910207"/>
                </a:lnTo>
                <a:lnTo>
                  <a:pt x="0" y="1910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2362" y="7641744"/>
            <a:ext cx="2395878" cy="1883465"/>
          </a:xfrm>
          <a:custGeom>
            <a:avLst/>
            <a:gdLst/>
            <a:ahLst/>
            <a:cxnLst/>
            <a:rect r="r" b="b" t="t" l="l"/>
            <a:pathLst>
              <a:path h="1883465" w="2395878">
                <a:moveTo>
                  <a:pt x="0" y="0"/>
                </a:moveTo>
                <a:lnTo>
                  <a:pt x="2395878" y="0"/>
                </a:lnTo>
                <a:lnTo>
                  <a:pt x="2395878" y="1883464"/>
                </a:lnTo>
                <a:lnTo>
                  <a:pt x="0" y="188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98740" y="1641409"/>
            <a:ext cx="6179500" cy="6769946"/>
            <a:chOff x="0" y="0"/>
            <a:chExt cx="1124862" cy="12323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4862" cy="1232342"/>
            </a:xfrm>
            <a:custGeom>
              <a:avLst/>
              <a:gdLst/>
              <a:ahLst/>
              <a:cxnLst/>
              <a:rect r="r" b="b" t="t" l="l"/>
              <a:pathLst>
                <a:path h="1232342" w="1124862">
                  <a:moveTo>
                    <a:pt x="50114" y="0"/>
                  </a:moveTo>
                  <a:lnTo>
                    <a:pt x="1074749" y="0"/>
                  </a:lnTo>
                  <a:cubicBezTo>
                    <a:pt x="1088040" y="0"/>
                    <a:pt x="1100786" y="5280"/>
                    <a:pt x="1110185" y="14678"/>
                  </a:cubicBezTo>
                  <a:cubicBezTo>
                    <a:pt x="1119583" y="24076"/>
                    <a:pt x="1124862" y="36823"/>
                    <a:pt x="1124862" y="50114"/>
                  </a:cubicBezTo>
                  <a:lnTo>
                    <a:pt x="1124862" y="1182228"/>
                  </a:lnTo>
                  <a:cubicBezTo>
                    <a:pt x="1124862" y="1195519"/>
                    <a:pt x="1119583" y="1208266"/>
                    <a:pt x="1110185" y="1217664"/>
                  </a:cubicBezTo>
                  <a:cubicBezTo>
                    <a:pt x="1100786" y="1227062"/>
                    <a:pt x="1088040" y="1232342"/>
                    <a:pt x="1074749" y="1232342"/>
                  </a:cubicBezTo>
                  <a:lnTo>
                    <a:pt x="50114" y="1232342"/>
                  </a:lnTo>
                  <a:cubicBezTo>
                    <a:pt x="36823" y="1232342"/>
                    <a:pt x="24076" y="1227062"/>
                    <a:pt x="14678" y="1217664"/>
                  </a:cubicBezTo>
                  <a:cubicBezTo>
                    <a:pt x="5280" y="1208266"/>
                    <a:pt x="0" y="1195519"/>
                    <a:pt x="0" y="1182228"/>
                  </a:cubicBezTo>
                  <a:lnTo>
                    <a:pt x="0" y="50114"/>
                  </a:lnTo>
                  <a:cubicBezTo>
                    <a:pt x="0" y="36823"/>
                    <a:pt x="5280" y="24076"/>
                    <a:pt x="14678" y="14678"/>
                  </a:cubicBezTo>
                  <a:cubicBezTo>
                    <a:pt x="24076" y="5280"/>
                    <a:pt x="36823" y="0"/>
                    <a:pt x="50114" y="0"/>
                  </a:cubicBezTo>
                  <a:close/>
                </a:path>
              </a:pathLst>
            </a:custGeom>
            <a:blipFill>
              <a:blip r:embed="rId6"/>
              <a:stretch>
                <a:fillRect l="-47382" t="0" r="-4738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693481" y="1641409"/>
            <a:ext cx="3086100" cy="6769946"/>
            <a:chOff x="0" y="0"/>
            <a:chExt cx="812800" cy="17830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3031"/>
            </a:xfrm>
            <a:custGeom>
              <a:avLst/>
              <a:gdLst/>
              <a:ahLst/>
              <a:cxnLst/>
              <a:rect r="r" b="b" t="t" l="l"/>
              <a:pathLst>
                <a:path h="178303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655090"/>
                  </a:lnTo>
                  <a:cubicBezTo>
                    <a:pt x="812800" y="1689022"/>
                    <a:pt x="799321" y="1721564"/>
                    <a:pt x="775327" y="1745558"/>
                  </a:cubicBezTo>
                  <a:cubicBezTo>
                    <a:pt x="751333" y="1769551"/>
                    <a:pt x="718791" y="1783031"/>
                    <a:pt x="684859" y="1783031"/>
                  </a:cubicBezTo>
                  <a:lnTo>
                    <a:pt x="127941" y="1783031"/>
                  </a:lnTo>
                  <a:cubicBezTo>
                    <a:pt x="94009" y="1783031"/>
                    <a:pt x="61467" y="1769551"/>
                    <a:pt x="37473" y="1745558"/>
                  </a:cubicBezTo>
                  <a:cubicBezTo>
                    <a:pt x="13479" y="1721564"/>
                    <a:pt x="0" y="1689022"/>
                    <a:pt x="0" y="165509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812800" cy="184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50822" y="152400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8" y="0"/>
                </a:lnTo>
                <a:lnTo>
                  <a:pt x="5234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67956" y="6636545"/>
            <a:ext cx="2257662" cy="1774810"/>
          </a:xfrm>
          <a:custGeom>
            <a:avLst/>
            <a:gdLst/>
            <a:ahLst/>
            <a:cxnLst/>
            <a:rect r="r" b="b" t="t" l="l"/>
            <a:pathLst>
              <a:path h="1774810" w="2257662">
                <a:moveTo>
                  <a:pt x="0" y="0"/>
                </a:moveTo>
                <a:lnTo>
                  <a:pt x="2257663" y="0"/>
                </a:lnTo>
                <a:lnTo>
                  <a:pt x="2257663" y="1774810"/>
                </a:lnTo>
                <a:lnTo>
                  <a:pt x="0" y="1774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387815" y="3134194"/>
            <a:ext cx="10421215" cy="4307525"/>
            <a:chOff x="0" y="0"/>
            <a:chExt cx="2744682" cy="1134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4682" cy="1134492"/>
            </a:xfrm>
            <a:custGeom>
              <a:avLst/>
              <a:gdLst/>
              <a:ahLst/>
              <a:cxnLst/>
              <a:rect r="r" b="b" t="t" l="l"/>
              <a:pathLst>
                <a:path h="1134492" w="2744682">
                  <a:moveTo>
                    <a:pt x="37888" y="0"/>
                  </a:moveTo>
                  <a:lnTo>
                    <a:pt x="2706794" y="0"/>
                  </a:lnTo>
                  <a:cubicBezTo>
                    <a:pt x="2716843" y="0"/>
                    <a:pt x="2726480" y="3992"/>
                    <a:pt x="2733585" y="11097"/>
                  </a:cubicBezTo>
                  <a:cubicBezTo>
                    <a:pt x="2740690" y="18202"/>
                    <a:pt x="2744682" y="27839"/>
                    <a:pt x="2744682" y="37888"/>
                  </a:cubicBezTo>
                  <a:lnTo>
                    <a:pt x="2744682" y="1096604"/>
                  </a:lnTo>
                  <a:cubicBezTo>
                    <a:pt x="2744682" y="1106653"/>
                    <a:pt x="2740690" y="1116290"/>
                    <a:pt x="2733585" y="1123395"/>
                  </a:cubicBezTo>
                  <a:cubicBezTo>
                    <a:pt x="2726480" y="1130500"/>
                    <a:pt x="2716843" y="1134492"/>
                    <a:pt x="2706794" y="1134492"/>
                  </a:cubicBezTo>
                  <a:lnTo>
                    <a:pt x="37888" y="1134492"/>
                  </a:lnTo>
                  <a:cubicBezTo>
                    <a:pt x="27839" y="1134492"/>
                    <a:pt x="18202" y="1130500"/>
                    <a:pt x="11097" y="1123395"/>
                  </a:cubicBezTo>
                  <a:cubicBezTo>
                    <a:pt x="3992" y="1116290"/>
                    <a:pt x="0" y="1106653"/>
                    <a:pt x="0" y="1096604"/>
                  </a:cubicBezTo>
                  <a:lnTo>
                    <a:pt x="0" y="37888"/>
                  </a:lnTo>
                  <a:cubicBezTo>
                    <a:pt x="0" y="27839"/>
                    <a:pt x="3992" y="18202"/>
                    <a:pt x="11097" y="11097"/>
                  </a:cubicBezTo>
                  <a:cubicBezTo>
                    <a:pt x="18202" y="3992"/>
                    <a:pt x="27839" y="0"/>
                    <a:pt x="37888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744682" cy="120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88105" y="7645544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7" y="0"/>
                </a:lnTo>
                <a:lnTo>
                  <a:pt x="52342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15085" y="4247163"/>
            <a:ext cx="9439275" cy="205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9"/>
              </a:lnSpc>
            </a:pPr>
            <a:r>
              <a:rPr lang="en-US" sz="7353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Manufacturing</a:t>
            </a:r>
          </a:p>
          <a:p>
            <a:pPr algn="l">
              <a:lnSpc>
                <a:spcPts val="7059"/>
              </a:lnSpc>
            </a:pPr>
            <a:r>
              <a:rPr lang="en-US" sz="7353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Downtime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563201" cy="9879301"/>
          </a:xfrm>
          <a:custGeom>
            <a:avLst/>
            <a:gdLst/>
            <a:ahLst/>
            <a:cxnLst/>
            <a:rect r="r" b="b" t="t" l="l"/>
            <a:pathLst>
              <a:path h="9879301" w="17563201">
                <a:moveTo>
                  <a:pt x="0" y="0"/>
                </a:moveTo>
                <a:lnTo>
                  <a:pt x="17563201" y="0"/>
                </a:lnTo>
                <a:lnTo>
                  <a:pt x="17563201" y="9879301"/>
                </a:lnTo>
                <a:lnTo>
                  <a:pt x="0" y="9879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18138"/>
            <a:ext cx="1170741" cy="11707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1581" y="2518138"/>
            <a:ext cx="1170741" cy="1170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044443"/>
            <a:ext cx="1170741" cy="117074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1581" y="4044443"/>
            <a:ext cx="1170741" cy="117074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567610"/>
            <a:ext cx="1170741" cy="11707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1581" y="5567610"/>
            <a:ext cx="1170741" cy="117074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7090776"/>
            <a:ext cx="1170741" cy="117074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1581" y="7090776"/>
            <a:ext cx="1170741" cy="117074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46538" y="2519707"/>
            <a:ext cx="1170741" cy="117074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09419" y="2519707"/>
            <a:ext cx="1170741" cy="117074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46538" y="4044443"/>
            <a:ext cx="1170741" cy="117074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409419" y="4044443"/>
            <a:ext cx="1170741" cy="117074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-201753" y="9039374"/>
            <a:ext cx="15395893" cy="799364"/>
            <a:chOff x="0" y="0"/>
            <a:chExt cx="7827334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27334" cy="406400"/>
            </a:xfrm>
            <a:custGeom>
              <a:avLst/>
              <a:gdLst/>
              <a:ahLst/>
              <a:cxnLst/>
              <a:rect r="r" b="b" t="t" l="l"/>
              <a:pathLst>
                <a:path h="406400" w="7827334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782733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-443479" y="9039374"/>
            <a:ext cx="15395893" cy="799364"/>
            <a:chOff x="0" y="0"/>
            <a:chExt cx="7827334" cy="40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27334" cy="406400"/>
            </a:xfrm>
            <a:custGeom>
              <a:avLst/>
              <a:gdLst/>
              <a:ahLst/>
              <a:cxnLst/>
              <a:rect r="r" b="b" t="t" l="l"/>
              <a:pathLst>
                <a:path h="406400" w="7827334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782733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28700" y="605501"/>
            <a:ext cx="10545068" cy="152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0"/>
              </a:lnSpc>
            </a:pPr>
            <a:r>
              <a:rPr lang="en-US" b="true" sz="77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Table of content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11824" y="2599301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1824" y="4154181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1824" y="5681910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92510" y="7205476"/>
            <a:ext cx="706932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648221" y="2627876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729662" y="4158743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753305" y="2524053"/>
            <a:ext cx="420715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2" action="ppaction://hlinksldjump"/>
              </a:rPr>
              <a:t>Problem </a:t>
            </a:r>
          </a:p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2" action="ppaction://hlinksldjump"/>
              </a:rPr>
              <a:t>Statement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752847" y="7387404"/>
            <a:ext cx="420715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3" action="ppaction://hlinksldjump"/>
              </a:rPr>
              <a:t>Data Cleaning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753305" y="4048789"/>
            <a:ext cx="420715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4" action="ppaction://hlinksldjump"/>
              </a:rPr>
              <a:t>Goal &amp; </a:t>
            </a:r>
          </a:p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4" action="ppaction://hlinksldjump"/>
              </a:rPr>
              <a:t>Success Criteria 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70686" y="3782089"/>
            <a:ext cx="522345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Business</a:t>
            </a:r>
          </a:p>
          <a:p>
            <a:pPr algn="l">
              <a:lnSpc>
                <a:spcPts val="4200"/>
              </a:lnSpc>
            </a:pPr>
            <a:r>
              <a:rPr lang="en-US" sz="3000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Questions , DAX &amp; Sample visuals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753305" y="5573525"/>
            <a:ext cx="420715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5" action="ppaction://hlinksldjump"/>
              </a:rPr>
              <a:t>Data</a:t>
            </a:r>
          </a:p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5" action="ppaction://hlinksldjump"/>
              </a:rPr>
              <a:t>Resources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70686" y="5873362"/>
            <a:ext cx="420715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6" action="ppaction://hlinksldjump"/>
              </a:rPr>
              <a:t>Dashboard &amp; Reports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4642166" y="-1028700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8" y="0"/>
                </a:lnTo>
                <a:lnTo>
                  <a:pt x="5234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6367956" y="6636545"/>
            <a:ext cx="2257662" cy="1774810"/>
          </a:xfrm>
          <a:custGeom>
            <a:avLst/>
            <a:gdLst/>
            <a:ahLst/>
            <a:cxnLst/>
            <a:rect r="r" b="b" t="t" l="l"/>
            <a:pathLst>
              <a:path h="1774810" w="2257662">
                <a:moveTo>
                  <a:pt x="0" y="0"/>
                </a:moveTo>
                <a:lnTo>
                  <a:pt x="2257663" y="0"/>
                </a:lnTo>
                <a:lnTo>
                  <a:pt x="2257663" y="1774810"/>
                </a:lnTo>
                <a:lnTo>
                  <a:pt x="0" y="17748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8246538" y="5569179"/>
            <a:ext cx="1170741" cy="117074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409419" y="5569179"/>
            <a:ext cx="1170741" cy="1170741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8729662" y="5683479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8246538" y="7090776"/>
            <a:ext cx="1170741" cy="1170741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409419" y="7090776"/>
            <a:ext cx="1170741" cy="1170741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8729662" y="7205076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970686" y="7005051"/>
            <a:ext cx="498172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11" action="ppaction://hlinksldjump"/>
              </a:rPr>
              <a:t>Key insights, Recommendations &amp; Conclusions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926146" y="2819328"/>
            <a:ext cx="420715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  <a:hlinkClick r:id="rId12" action="ppaction://hlinksldjump"/>
              </a:rPr>
              <a:t>Data Modelling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9846" y="-879506"/>
            <a:ext cx="3986212" cy="4114800"/>
          </a:xfrm>
          <a:custGeom>
            <a:avLst/>
            <a:gdLst/>
            <a:ahLst/>
            <a:cxnLst/>
            <a:rect r="r" b="b" t="t" l="l"/>
            <a:pathLst>
              <a:path h="4114800" w="3986212">
                <a:moveTo>
                  <a:pt x="0" y="0"/>
                </a:moveTo>
                <a:lnTo>
                  <a:pt x="3986212" y="0"/>
                </a:lnTo>
                <a:lnTo>
                  <a:pt x="39862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76379" y="2933532"/>
            <a:ext cx="7708374" cy="6324768"/>
            <a:chOff x="0" y="0"/>
            <a:chExt cx="1194229" cy="9798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4229" cy="979872"/>
            </a:xfrm>
            <a:custGeom>
              <a:avLst/>
              <a:gdLst/>
              <a:ahLst/>
              <a:cxnLst/>
              <a:rect r="r" b="b" t="t" l="l"/>
              <a:pathLst>
                <a:path h="979872" w="1194229">
                  <a:moveTo>
                    <a:pt x="0" y="0"/>
                  </a:moveTo>
                  <a:lnTo>
                    <a:pt x="1194229" y="0"/>
                  </a:lnTo>
                  <a:lnTo>
                    <a:pt x="1194229" y="979872"/>
                  </a:lnTo>
                  <a:lnTo>
                    <a:pt x="0" y="979872"/>
                  </a:lnTo>
                  <a:close/>
                </a:path>
              </a:pathLst>
            </a:custGeom>
            <a:blipFill>
              <a:blip r:embed="rId4"/>
              <a:stretch>
                <a:fillRect l="-14820" t="0" r="-33342" b="-14036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980950"/>
            <a:ext cx="9901866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6102" y="2914482"/>
            <a:ext cx="5918476" cy="659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he manufacturing process may experience inconsistent productivity and unplanned production halts due to, unexpected downtime, inefficiency across operators and products. </a:t>
            </a:r>
          </a:p>
          <a:p>
            <a:pPr algn="l">
              <a:lnSpc>
                <a:spcPts val="3480"/>
              </a:lnSpc>
            </a:p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There is an urgent need to comprehensively analyze and production line utilization to enable data-driven decisions, improve production efficiency, and minimize losses.</a:t>
            </a:r>
          </a:p>
          <a:p>
            <a:pPr algn="l">
              <a:lnSpc>
                <a:spcPts val="348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92246" y="-727106"/>
            <a:ext cx="3427024" cy="3537573"/>
          </a:xfrm>
          <a:custGeom>
            <a:avLst/>
            <a:gdLst/>
            <a:ahLst/>
            <a:cxnLst/>
            <a:rect r="r" b="b" t="t" l="l"/>
            <a:pathLst>
              <a:path h="3537573" w="3427024">
                <a:moveTo>
                  <a:pt x="0" y="0"/>
                </a:moveTo>
                <a:lnTo>
                  <a:pt x="3427023" y="0"/>
                </a:lnTo>
                <a:lnTo>
                  <a:pt x="3427023" y="3537573"/>
                </a:lnTo>
                <a:lnTo>
                  <a:pt x="0" y="3537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993985" y="4041181"/>
            <a:ext cx="6294015" cy="1048211"/>
            <a:chOff x="0" y="0"/>
            <a:chExt cx="1712578" cy="2852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2578" cy="285214"/>
            </a:xfrm>
            <a:custGeom>
              <a:avLst/>
              <a:gdLst/>
              <a:ahLst/>
              <a:cxnLst/>
              <a:rect r="r" b="b" t="t" l="l"/>
              <a:pathLst>
                <a:path h="285214" w="1712578">
                  <a:moveTo>
                    <a:pt x="1509378" y="0"/>
                  </a:moveTo>
                  <a:lnTo>
                    <a:pt x="0" y="0"/>
                  </a:lnTo>
                  <a:lnTo>
                    <a:pt x="0" y="285214"/>
                  </a:lnTo>
                  <a:lnTo>
                    <a:pt x="1509378" y="285214"/>
                  </a:lnTo>
                  <a:lnTo>
                    <a:pt x="1712578" y="142607"/>
                  </a:lnTo>
                  <a:lnTo>
                    <a:pt x="1509378" y="0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598278" cy="361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  <a:r>
                <a:rPr lang="en-US" b="true" sz="2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Analyze Downtime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93985" y="5356091"/>
            <a:ext cx="6294015" cy="1311885"/>
            <a:chOff x="0" y="0"/>
            <a:chExt cx="1676387" cy="349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76387" cy="349416"/>
            </a:xfrm>
            <a:custGeom>
              <a:avLst/>
              <a:gdLst/>
              <a:ahLst/>
              <a:cxnLst/>
              <a:rect r="r" b="b" t="t" l="l"/>
              <a:pathLst>
                <a:path h="349416" w="1676387">
                  <a:moveTo>
                    <a:pt x="1473187" y="0"/>
                  </a:moveTo>
                  <a:lnTo>
                    <a:pt x="0" y="0"/>
                  </a:lnTo>
                  <a:lnTo>
                    <a:pt x="0" y="349416"/>
                  </a:lnTo>
                  <a:lnTo>
                    <a:pt x="1473187" y="349416"/>
                  </a:lnTo>
                  <a:lnTo>
                    <a:pt x="1676387" y="174708"/>
                  </a:lnTo>
                  <a:lnTo>
                    <a:pt x="1473187" y="0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562087" cy="42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  <a:r>
                <a:rPr lang="en-US" b="true" sz="2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Evaluate Operator Performance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93985" y="6693632"/>
            <a:ext cx="6294015" cy="1311885"/>
            <a:chOff x="0" y="0"/>
            <a:chExt cx="1676387" cy="349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6387" cy="349416"/>
            </a:xfrm>
            <a:custGeom>
              <a:avLst/>
              <a:gdLst/>
              <a:ahLst/>
              <a:cxnLst/>
              <a:rect r="r" b="b" t="t" l="l"/>
              <a:pathLst>
                <a:path h="349416" w="1676387">
                  <a:moveTo>
                    <a:pt x="1473187" y="0"/>
                  </a:moveTo>
                  <a:lnTo>
                    <a:pt x="0" y="0"/>
                  </a:lnTo>
                  <a:lnTo>
                    <a:pt x="0" y="349416"/>
                  </a:lnTo>
                  <a:lnTo>
                    <a:pt x="1473187" y="349416"/>
                  </a:lnTo>
                  <a:lnTo>
                    <a:pt x="1676387" y="174708"/>
                  </a:lnTo>
                  <a:lnTo>
                    <a:pt x="1473187" y="0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562087" cy="42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  <a:r>
                <a:rPr lang="en-US" b="true" sz="2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Evaluate Products and Line efficiency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93985" y="8031172"/>
            <a:ext cx="6294015" cy="1070840"/>
            <a:chOff x="0" y="0"/>
            <a:chExt cx="1676387" cy="2852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76387" cy="285214"/>
            </a:xfrm>
            <a:custGeom>
              <a:avLst/>
              <a:gdLst/>
              <a:ahLst/>
              <a:cxnLst/>
              <a:rect r="r" b="b" t="t" l="l"/>
              <a:pathLst>
                <a:path h="285214" w="1676387">
                  <a:moveTo>
                    <a:pt x="1473187" y="0"/>
                  </a:moveTo>
                  <a:lnTo>
                    <a:pt x="0" y="0"/>
                  </a:lnTo>
                  <a:lnTo>
                    <a:pt x="0" y="285214"/>
                  </a:lnTo>
                  <a:lnTo>
                    <a:pt x="1473187" y="285214"/>
                  </a:lnTo>
                  <a:lnTo>
                    <a:pt x="1676387" y="142607"/>
                  </a:lnTo>
                  <a:lnTo>
                    <a:pt x="1473187" y="0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562087" cy="361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</a:pPr>
              <a:r>
                <a:rPr lang="en-US" b="true" sz="2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Asses Disparity in Batches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4" t="-75" r="0" b="-14564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21283" y="-292964"/>
            <a:ext cx="10407306" cy="10872928"/>
            <a:chOff x="0" y="0"/>
            <a:chExt cx="2741019" cy="28636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41019" cy="2863652"/>
            </a:xfrm>
            <a:custGeom>
              <a:avLst/>
              <a:gdLst/>
              <a:ahLst/>
              <a:cxnLst/>
              <a:rect r="r" b="b" t="t" l="l"/>
              <a:pathLst>
                <a:path h="2863652" w="2741019">
                  <a:moveTo>
                    <a:pt x="0" y="0"/>
                  </a:moveTo>
                  <a:lnTo>
                    <a:pt x="2741019" y="0"/>
                  </a:lnTo>
                  <a:lnTo>
                    <a:pt x="2741019" y="2863652"/>
                  </a:lnTo>
                  <a:lnTo>
                    <a:pt x="0" y="2863652"/>
                  </a:lnTo>
                  <a:close/>
                </a:path>
              </a:pathLst>
            </a:custGeom>
            <a:solidFill>
              <a:srgbClr val="FBF5DD">
                <a:alpha val="4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741019" cy="2920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60692" y="635864"/>
            <a:ext cx="1517415" cy="1764436"/>
          </a:xfrm>
          <a:custGeom>
            <a:avLst/>
            <a:gdLst/>
            <a:ahLst/>
            <a:cxnLst/>
            <a:rect r="r" b="b" t="t" l="l"/>
            <a:pathLst>
              <a:path h="1764436" w="1517415">
                <a:moveTo>
                  <a:pt x="0" y="0"/>
                </a:moveTo>
                <a:lnTo>
                  <a:pt x="1517415" y="0"/>
                </a:lnTo>
                <a:lnTo>
                  <a:pt x="1517415" y="1764436"/>
                </a:lnTo>
                <a:lnTo>
                  <a:pt x="0" y="1764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669353"/>
            <a:ext cx="3986212" cy="4114800"/>
          </a:xfrm>
          <a:custGeom>
            <a:avLst/>
            <a:gdLst/>
            <a:ahLst/>
            <a:cxnLst/>
            <a:rect r="r" b="b" t="t" l="l"/>
            <a:pathLst>
              <a:path h="4114800" w="3986212">
                <a:moveTo>
                  <a:pt x="0" y="0"/>
                </a:moveTo>
                <a:lnTo>
                  <a:pt x="3986212" y="0"/>
                </a:lnTo>
                <a:lnTo>
                  <a:pt x="39862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550384" y="4666676"/>
            <a:ext cx="1541797" cy="1296657"/>
            <a:chOff x="0" y="0"/>
            <a:chExt cx="406070" cy="341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070" cy="341506"/>
            </a:xfrm>
            <a:custGeom>
              <a:avLst/>
              <a:gdLst/>
              <a:ahLst/>
              <a:cxnLst/>
              <a:rect r="r" b="b" t="t" l="l"/>
              <a:pathLst>
                <a:path h="341506" w="406070">
                  <a:moveTo>
                    <a:pt x="0" y="0"/>
                  </a:moveTo>
                  <a:lnTo>
                    <a:pt x="406070" y="0"/>
                  </a:lnTo>
                  <a:lnTo>
                    <a:pt x="406070" y="341506"/>
                  </a:lnTo>
                  <a:lnTo>
                    <a:pt x="0" y="341506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06070" cy="39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50384" y="2885160"/>
            <a:ext cx="1541797" cy="1296657"/>
            <a:chOff x="0" y="0"/>
            <a:chExt cx="406070" cy="3415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070" cy="341506"/>
            </a:xfrm>
            <a:custGeom>
              <a:avLst/>
              <a:gdLst/>
              <a:ahLst/>
              <a:cxnLst/>
              <a:rect r="r" b="b" t="t" l="l"/>
              <a:pathLst>
                <a:path h="341506" w="406070">
                  <a:moveTo>
                    <a:pt x="0" y="0"/>
                  </a:moveTo>
                  <a:lnTo>
                    <a:pt x="406070" y="0"/>
                  </a:lnTo>
                  <a:lnTo>
                    <a:pt x="406070" y="341506"/>
                  </a:lnTo>
                  <a:lnTo>
                    <a:pt x="0" y="341506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06070" cy="39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50384" y="6419920"/>
            <a:ext cx="1541797" cy="1296657"/>
            <a:chOff x="0" y="0"/>
            <a:chExt cx="406070" cy="3415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070" cy="341506"/>
            </a:xfrm>
            <a:custGeom>
              <a:avLst/>
              <a:gdLst/>
              <a:ahLst/>
              <a:cxnLst/>
              <a:rect r="r" b="b" t="t" l="l"/>
              <a:pathLst>
                <a:path h="341506" w="406070">
                  <a:moveTo>
                    <a:pt x="0" y="0"/>
                  </a:moveTo>
                  <a:lnTo>
                    <a:pt x="406070" y="0"/>
                  </a:lnTo>
                  <a:lnTo>
                    <a:pt x="406070" y="341506"/>
                  </a:lnTo>
                  <a:lnTo>
                    <a:pt x="0" y="341506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06070" cy="39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906041" y="4882278"/>
            <a:ext cx="830483" cy="870755"/>
          </a:xfrm>
          <a:custGeom>
            <a:avLst/>
            <a:gdLst/>
            <a:ahLst/>
            <a:cxnLst/>
            <a:rect r="r" b="b" t="t" l="l"/>
            <a:pathLst>
              <a:path h="870755" w="830483">
                <a:moveTo>
                  <a:pt x="0" y="0"/>
                </a:moveTo>
                <a:lnTo>
                  <a:pt x="830483" y="0"/>
                </a:lnTo>
                <a:lnTo>
                  <a:pt x="830483" y="870756"/>
                </a:lnTo>
                <a:lnTo>
                  <a:pt x="0" y="8707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878107" y="6678065"/>
            <a:ext cx="900857" cy="780368"/>
          </a:xfrm>
          <a:custGeom>
            <a:avLst/>
            <a:gdLst/>
            <a:ahLst/>
            <a:cxnLst/>
            <a:rect r="r" b="b" t="t" l="l"/>
            <a:pathLst>
              <a:path h="780368" w="900857">
                <a:moveTo>
                  <a:pt x="0" y="0"/>
                </a:moveTo>
                <a:lnTo>
                  <a:pt x="900857" y="0"/>
                </a:lnTo>
                <a:lnTo>
                  <a:pt x="900857" y="780367"/>
                </a:lnTo>
                <a:lnTo>
                  <a:pt x="0" y="780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097400" y="9258300"/>
            <a:ext cx="161900" cy="1745886"/>
            <a:chOff x="0" y="0"/>
            <a:chExt cx="42640" cy="4598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640" cy="459822"/>
            </a:xfrm>
            <a:custGeom>
              <a:avLst/>
              <a:gdLst/>
              <a:ahLst/>
              <a:cxnLst/>
              <a:rect r="r" b="b" t="t" l="l"/>
              <a:pathLst>
                <a:path h="459822" w="42640">
                  <a:moveTo>
                    <a:pt x="0" y="0"/>
                  </a:moveTo>
                  <a:lnTo>
                    <a:pt x="42640" y="0"/>
                  </a:lnTo>
                  <a:lnTo>
                    <a:pt x="42640" y="459822"/>
                  </a:lnTo>
                  <a:lnTo>
                    <a:pt x="0" y="459822"/>
                  </a:ln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2640" cy="516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858828" y="3074604"/>
            <a:ext cx="877697" cy="877697"/>
          </a:xfrm>
          <a:custGeom>
            <a:avLst/>
            <a:gdLst/>
            <a:ahLst/>
            <a:cxnLst/>
            <a:rect r="r" b="b" t="t" l="l"/>
            <a:pathLst>
              <a:path h="877697" w="877697">
                <a:moveTo>
                  <a:pt x="0" y="0"/>
                </a:moveTo>
                <a:lnTo>
                  <a:pt x="877696" y="0"/>
                </a:lnTo>
                <a:lnTo>
                  <a:pt x="877696" y="877697"/>
                </a:lnTo>
                <a:lnTo>
                  <a:pt x="0" y="8776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374565" y="342981"/>
            <a:ext cx="10354024" cy="299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G</a:t>
            </a: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oal &amp; </a:t>
            </a:r>
          </a:p>
          <a:p>
            <a:pPr algn="l">
              <a:lnSpc>
                <a:spcPts val="7200"/>
              </a:lnSpc>
            </a:pP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Success Criteria 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364295" y="3035790"/>
            <a:ext cx="789500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Iden</a:t>
            </a:r>
            <a:r>
              <a:rPr lang="en-US" b="true" sz="2900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tify Main Downtime Causes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3646" y="4912844"/>
            <a:ext cx="862068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High</a:t>
            </a:r>
            <a:r>
              <a:rPr lang="en-US" b="true" sz="2900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light Unexpected or Extreme Downtime Cases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73646" y="6472936"/>
            <a:ext cx="862068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Get a Cl</a:t>
            </a:r>
            <a:r>
              <a:rPr lang="en-US" b="true" sz="2900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ear Picture of How Downtime Affects Productivity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4295" y="3512669"/>
            <a:ext cx="789500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0"/>
              </a:lnSpc>
            </a:pP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ocus on the factors that lead to the most lost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3345" y="5827244"/>
            <a:ext cx="789500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0"/>
              </a:lnSpc>
            </a:pP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derstand overall downtime impact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64295" y="7330186"/>
            <a:ext cx="789500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0"/>
              </a:lnSpc>
            </a:pP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Mak</a:t>
            </a:r>
            <a:r>
              <a:rPr lang="en-US" sz="29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e it easier for teams to track and act on downtime trends.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939247" y="8570689"/>
            <a:ext cx="8040753" cy="3467575"/>
          </a:xfrm>
          <a:custGeom>
            <a:avLst/>
            <a:gdLst/>
            <a:ahLst/>
            <a:cxnLst/>
            <a:rect r="r" b="b" t="t" l="l"/>
            <a:pathLst>
              <a:path h="3467575" w="8040753">
                <a:moveTo>
                  <a:pt x="0" y="0"/>
                </a:moveTo>
                <a:lnTo>
                  <a:pt x="8040753" y="0"/>
                </a:lnTo>
                <a:lnTo>
                  <a:pt x="8040753" y="3467575"/>
                </a:lnTo>
                <a:lnTo>
                  <a:pt x="0" y="3467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89989" y="-1288678"/>
            <a:ext cx="9919357" cy="4277723"/>
          </a:xfrm>
          <a:custGeom>
            <a:avLst/>
            <a:gdLst/>
            <a:ahLst/>
            <a:cxnLst/>
            <a:rect r="r" b="b" t="t" l="l"/>
            <a:pathLst>
              <a:path h="4277723" w="9919357">
                <a:moveTo>
                  <a:pt x="0" y="0"/>
                </a:moveTo>
                <a:lnTo>
                  <a:pt x="9919357" y="0"/>
                </a:lnTo>
                <a:lnTo>
                  <a:pt x="9919357" y="4277722"/>
                </a:lnTo>
                <a:lnTo>
                  <a:pt x="0" y="4277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5234" y="214141"/>
            <a:ext cx="8520164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b="true" sz="7199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Resources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7764" y="1966220"/>
            <a:ext cx="14460617" cy="666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0"/>
              </a:lnSpc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Our analysis is built upon the data provided from DEPI </a:t>
            </a:r>
          </a:p>
          <a:p>
            <a:pPr algn="ctr">
              <a:lnSpc>
                <a:spcPts val="7630"/>
              </a:lnSpc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in Excel spreadsheet format </a:t>
            </a:r>
          </a:p>
          <a:p>
            <a:pPr algn="ctr">
              <a:lnSpc>
                <a:spcPts val="7630"/>
              </a:lnSpc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This dataset has four tables that contain detailed information for:</a:t>
            </a:r>
          </a:p>
          <a:p>
            <a:pPr algn="l" marL="755651" indent="-377825" lvl="1">
              <a:lnSpc>
                <a:spcPts val="7630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Line productivity</a:t>
            </a:r>
          </a:p>
          <a:p>
            <a:pPr algn="l" marL="755651" indent="-377825" lvl="1">
              <a:lnSpc>
                <a:spcPts val="7630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Products </a:t>
            </a:r>
          </a:p>
          <a:p>
            <a:pPr algn="l" marL="755651" indent="-377825" lvl="1">
              <a:lnSpc>
                <a:spcPts val="7630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downtime factors</a:t>
            </a:r>
          </a:p>
          <a:p>
            <a:pPr algn="l" marL="755651" indent="-377825" lvl="1">
              <a:lnSpc>
                <a:spcPts val="7630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 line downtime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939247" y="8570689"/>
            <a:ext cx="8040753" cy="3467575"/>
          </a:xfrm>
          <a:custGeom>
            <a:avLst/>
            <a:gdLst/>
            <a:ahLst/>
            <a:cxnLst/>
            <a:rect r="r" b="b" t="t" l="l"/>
            <a:pathLst>
              <a:path h="3467575" w="8040753">
                <a:moveTo>
                  <a:pt x="0" y="0"/>
                </a:moveTo>
                <a:lnTo>
                  <a:pt x="8040753" y="0"/>
                </a:lnTo>
                <a:lnTo>
                  <a:pt x="8040753" y="3467575"/>
                </a:lnTo>
                <a:lnTo>
                  <a:pt x="0" y="3467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89989" y="-1288678"/>
            <a:ext cx="9919357" cy="4277723"/>
          </a:xfrm>
          <a:custGeom>
            <a:avLst/>
            <a:gdLst/>
            <a:ahLst/>
            <a:cxnLst/>
            <a:rect r="r" b="b" t="t" l="l"/>
            <a:pathLst>
              <a:path h="4277723" w="9919357">
                <a:moveTo>
                  <a:pt x="0" y="0"/>
                </a:moveTo>
                <a:lnTo>
                  <a:pt x="9919357" y="0"/>
                </a:lnTo>
                <a:lnTo>
                  <a:pt x="9919357" y="4277722"/>
                </a:lnTo>
                <a:lnTo>
                  <a:pt x="0" y="4277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1782" y="2836806"/>
            <a:ext cx="8657895" cy="2708182"/>
          </a:xfrm>
          <a:custGeom>
            <a:avLst/>
            <a:gdLst/>
            <a:ahLst/>
            <a:cxnLst/>
            <a:rect r="r" b="b" t="t" l="l"/>
            <a:pathLst>
              <a:path h="2708182" w="8657895">
                <a:moveTo>
                  <a:pt x="0" y="0"/>
                </a:moveTo>
                <a:lnTo>
                  <a:pt x="8657895" y="0"/>
                </a:lnTo>
                <a:lnTo>
                  <a:pt x="8657895" y="2708182"/>
                </a:lnTo>
                <a:lnTo>
                  <a:pt x="0" y="2708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57" r="0" b="-4440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21843" y="2836806"/>
            <a:ext cx="7446512" cy="2768506"/>
          </a:xfrm>
          <a:custGeom>
            <a:avLst/>
            <a:gdLst/>
            <a:ahLst/>
            <a:cxnLst/>
            <a:rect r="r" b="b" t="t" l="l"/>
            <a:pathLst>
              <a:path h="2768506" w="7446512">
                <a:moveTo>
                  <a:pt x="0" y="0"/>
                </a:moveTo>
                <a:lnTo>
                  <a:pt x="7446511" y="0"/>
                </a:lnTo>
                <a:lnTo>
                  <a:pt x="7446511" y="2768506"/>
                </a:lnTo>
                <a:lnTo>
                  <a:pt x="0" y="2768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34" r="0" b="-1394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1782" y="7065120"/>
            <a:ext cx="8182028" cy="3239357"/>
          </a:xfrm>
          <a:custGeom>
            <a:avLst/>
            <a:gdLst/>
            <a:ahLst/>
            <a:cxnLst/>
            <a:rect r="r" b="b" t="t" l="l"/>
            <a:pathLst>
              <a:path h="3239357" w="8182028">
                <a:moveTo>
                  <a:pt x="0" y="0"/>
                </a:moveTo>
                <a:lnTo>
                  <a:pt x="8182028" y="0"/>
                </a:lnTo>
                <a:lnTo>
                  <a:pt x="8182028" y="3239357"/>
                </a:lnTo>
                <a:lnTo>
                  <a:pt x="0" y="32393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836" r="-1385" b="-9612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30869" y="7412947"/>
            <a:ext cx="9418323" cy="2543701"/>
          </a:xfrm>
          <a:custGeom>
            <a:avLst/>
            <a:gdLst/>
            <a:ahLst/>
            <a:cxnLst/>
            <a:rect r="r" b="b" t="t" l="l"/>
            <a:pathLst>
              <a:path h="2543701" w="9418323">
                <a:moveTo>
                  <a:pt x="0" y="0"/>
                </a:moveTo>
                <a:lnTo>
                  <a:pt x="9418323" y="0"/>
                </a:lnTo>
                <a:lnTo>
                  <a:pt x="9418323" y="2543702"/>
                </a:lnTo>
                <a:lnTo>
                  <a:pt x="0" y="2543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7" t="-5179" r="-694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2535" y="397481"/>
            <a:ext cx="1050508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Tables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1148" y="2054661"/>
            <a:ext cx="585656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Line Productivity Table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81130" y="6030535"/>
            <a:ext cx="6517067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Downtime Factors Table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51468" y="2054661"/>
            <a:ext cx="418726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Products Table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5911" y="6295647"/>
            <a:ext cx="586823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Line Downtime Table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939247" y="8570689"/>
            <a:ext cx="8040753" cy="3467575"/>
          </a:xfrm>
          <a:custGeom>
            <a:avLst/>
            <a:gdLst/>
            <a:ahLst/>
            <a:cxnLst/>
            <a:rect r="r" b="b" t="t" l="l"/>
            <a:pathLst>
              <a:path h="3467575" w="8040753">
                <a:moveTo>
                  <a:pt x="0" y="0"/>
                </a:moveTo>
                <a:lnTo>
                  <a:pt x="8040753" y="0"/>
                </a:lnTo>
                <a:lnTo>
                  <a:pt x="8040753" y="3467575"/>
                </a:lnTo>
                <a:lnTo>
                  <a:pt x="0" y="3467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89989" y="-1288678"/>
            <a:ext cx="9919357" cy="4277723"/>
          </a:xfrm>
          <a:custGeom>
            <a:avLst/>
            <a:gdLst/>
            <a:ahLst/>
            <a:cxnLst/>
            <a:rect r="r" b="b" t="t" l="l"/>
            <a:pathLst>
              <a:path h="4277723" w="9919357">
                <a:moveTo>
                  <a:pt x="0" y="0"/>
                </a:moveTo>
                <a:lnTo>
                  <a:pt x="9919357" y="0"/>
                </a:lnTo>
                <a:lnTo>
                  <a:pt x="9919357" y="4277722"/>
                </a:lnTo>
                <a:lnTo>
                  <a:pt x="0" y="4277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452769"/>
            <a:ext cx="6952510" cy="1103711"/>
          </a:xfrm>
          <a:custGeom>
            <a:avLst/>
            <a:gdLst/>
            <a:ahLst/>
            <a:cxnLst/>
            <a:rect r="r" b="b" t="t" l="l"/>
            <a:pathLst>
              <a:path h="1103711" w="6952510">
                <a:moveTo>
                  <a:pt x="0" y="0"/>
                </a:moveTo>
                <a:lnTo>
                  <a:pt x="6952510" y="0"/>
                </a:lnTo>
                <a:lnTo>
                  <a:pt x="6952510" y="1103711"/>
                </a:lnTo>
                <a:lnTo>
                  <a:pt x="0" y="1103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2633" y="242887"/>
            <a:ext cx="799619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ata Cleaning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2633" y="1916191"/>
            <a:ext cx="17390775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We used P</a:t>
            </a:r>
            <a:r>
              <a:rPr lang="en-US" sz="3499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ower Query to transform, clean, and reshape raw data into a usable format for analysis and visualization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946" y="4629382"/>
            <a:ext cx="16210955" cy="460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Check Index C</a:t>
            </a: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olumns (Primary key are unique) – No duplicates found</a:t>
            </a:r>
          </a:p>
          <a:p>
            <a:pPr algn="l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Trim white Space</a:t>
            </a:r>
          </a:p>
          <a:p>
            <a:pPr algn="l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Remove Blank Columns </a:t>
            </a:r>
          </a:p>
          <a:p>
            <a:pPr algn="l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Standardize Data Formats</a:t>
            </a:r>
          </a:p>
          <a:p>
            <a:pPr algn="l" marL="755651" indent="-377825" lvl="1">
              <a:lnSpc>
                <a:spcPts val="6125"/>
              </a:lnSpc>
              <a:buFont typeface="Arial"/>
              <a:buChar char="•"/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Unpivot columns</a:t>
            </a:r>
          </a:p>
          <a:p>
            <a:pPr algn="l">
              <a:lnSpc>
                <a:spcPts val="612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233" y="2323392"/>
            <a:ext cx="7550992" cy="4514881"/>
          </a:xfrm>
          <a:custGeom>
            <a:avLst/>
            <a:gdLst/>
            <a:ahLst/>
            <a:cxnLst/>
            <a:rect r="r" b="b" t="t" l="l"/>
            <a:pathLst>
              <a:path h="4514881" w="7550992">
                <a:moveTo>
                  <a:pt x="0" y="0"/>
                </a:moveTo>
                <a:lnTo>
                  <a:pt x="7550992" y="0"/>
                </a:lnTo>
                <a:lnTo>
                  <a:pt x="7550992" y="4514881"/>
                </a:lnTo>
                <a:lnTo>
                  <a:pt x="0" y="451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3" b="-48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323392"/>
            <a:ext cx="6979792" cy="4164881"/>
          </a:xfrm>
          <a:custGeom>
            <a:avLst/>
            <a:gdLst/>
            <a:ahLst/>
            <a:cxnLst/>
            <a:rect r="r" b="b" t="t" l="l"/>
            <a:pathLst>
              <a:path h="4164881" w="6979792">
                <a:moveTo>
                  <a:pt x="0" y="0"/>
                </a:moveTo>
                <a:lnTo>
                  <a:pt x="6979792" y="0"/>
                </a:lnTo>
                <a:lnTo>
                  <a:pt x="6979792" y="4164881"/>
                </a:lnTo>
                <a:lnTo>
                  <a:pt x="0" y="416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" b="-47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5554" y="5015504"/>
            <a:ext cx="6888446" cy="4123915"/>
          </a:xfrm>
          <a:custGeom>
            <a:avLst/>
            <a:gdLst/>
            <a:ahLst/>
            <a:cxnLst/>
            <a:rect r="r" b="b" t="t" l="l"/>
            <a:pathLst>
              <a:path h="4123915" w="6888446">
                <a:moveTo>
                  <a:pt x="0" y="0"/>
                </a:moveTo>
                <a:lnTo>
                  <a:pt x="6888446" y="0"/>
                </a:lnTo>
                <a:lnTo>
                  <a:pt x="6888446" y="4123915"/>
                </a:lnTo>
                <a:lnTo>
                  <a:pt x="0" y="4123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2" b="-442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2633" y="242887"/>
            <a:ext cx="799619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ata Cleaning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5233" y="1683188"/>
            <a:ext cx="3535958" cy="42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sz="2389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389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ine Productivity 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45988" y="1683188"/>
            <a:ext cx="2331188" cy="42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sz="2389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Products Table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2514" y="8291050"/>
            <a:ext cx="3777270" cy="42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4"/>
              </a:lnSpc>
            </a:pPr>
            <a:r>
              <a:rPr lang="en-US" sz="2389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Downtime  factors Table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69381" y="6604000"/>
            <a:ext cx="7573964" cy="193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5553" indent="-292777" lvl="1">
              <a:lnSpc>
                <a:spcPts val="3797"/>
              </a:lnSpc>
              <a:buFont typeface="Arial"/>
              <a:buChar char="•"/>
            </a:pPr>
            <a:r>
              <a:rPr lang="en-US" b="true" sz="2712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Unique Distinct Values for Primary Keys</a:t>
            </a:r>
          </a:p>
          <a:p>
            <a:pPr algn="ctr" marL="585553" indent="-292777" lvl="1">
              <a:lnSpc>
                <a:spcPts val="3797"/>
              </a:lnSpc>
              <a:buFont typeface="Arial"/>
              <a:buChar char="•"/>
            </a:pPr>
            <a:r>
              <a:rPr lang="en-US" b="true" sz="2712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Format Data Types</a:t>
            </a:r>
          </a:p>
          <a:p>
            <a:pPr algn="ctr" marL="585553" indent="-292777" lvl="1">
              <a:lnSpc>
                <a:spcPts val="3797"/>
              </a:lnSpc>
              <a:buFont typeface="Arial"/>
              <a:buChar char="•"/>
            </a:pPr>
            <a:r>
              <a:rPr lang="en-US" b="true" sz="2712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Remove Empty columns</a:t>
            </a:r>
          </a:p>
          <a:p>
            <a:pPr algn="ctr" marL="585553" indent="-292777" lvl="1">
              <a:lnSpc>
                <a:spcPts val="3797"/>
              </a:lnSpc>
              <a:buFont typeface="Arial"/>
              <a:buChar char="•"/>
            </a:pPr>
            <a:r>
              <a:rPr lang="en-US" b="true" sz="2712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Trim Spaces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594" y="2742388"/>
            <a:ext cx="13884630" cy="7150585"/>
          </a:xfrm>
          <a:custGeom>
            <a:avLst/>
            <a:gdLst/>
            <a:ahLst/>
            <a:cxnLst/>
            <a:rect r="r" b="b" t="t" l="l"/>
            <a:pathLst>
              <a:path h="7150585" w="13884630">
                <a:moveTo>
                  <a:pt x="0" y="0"/>
                </a:moveTo>
                <a:lnTo>
                  <a:pt x="13884631" y="0"/>
                </a:lnTo>
                <a:lnTo>
                  <a:pt x="13884631" y="7150585"/>
                </a:lnTo>
                <a:lnTo>
                  <a:pt x="0" y="7150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8573" y="338137"/>
            <a:ext cx="968194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Cle</a:t>
            </a: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aned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3341" y="1692442"/>
            <a:ext cx="622063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Line Downtime Table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97994"/>
            <a:ext cx="18288000" cy="8013606"/>
          </a:xfrm>
          <a:custGeom>
            <a:avLst/>
            <a:gdLst/>
            <a:ahLst/>
            <a:cxnLst/>
            <a:rect r="r" b="b" t="t" l="l"/>
            <a:pathLst>
              <a:path h="8013606" w="18288000">
                <a:moveTo>
                  <a:pt x="0" y="0"/>
                </a:moveTo>
                <a:lnTo>
                  <a:pt x="18288000" y="0"/>
                </a:lnTo>
                <a:lnTo>
                  <a:pt x="18288000" y="8013606"/>
                </a:lnTo>
                <a:lnTo>
                  <a:pt x="0" y="8013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23" b="-14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445" y="319426"/>
            <a:ext cx="9766078" cy="12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1"/>
              </a:lnSpc>
              <a:spcBef>
                <a:spcPct val="0"/>
              </a:spcBef>
            </a:pPr>
            <a:r>
              <a:rPr lang="en-US" b="true" sz="7059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 Data Modelling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5815" y="-1288678"/>
            <a:ext cx="8973531" cy="3869835"/>
          </a:xfrm>
          <a:custGeom>
            <a:avLst/>
            <a:gdLst/>
            <a:ahLst/>
            <a:cxnLst/>
            <a:rect r="r" b="b" t="t" l="l"/>
            <a:pathLst>
              <a:path h="3869835" w="8973531">
                <a:moveTo>
                  <a:pt x="0" y="0"/>
                </a:moveTo>
                <a:lnTo>
                  <a:pt x="8973531" y="0"/>
                </a:lnTo>
                <a:lnTo>
                  <a:pt x="8973531" y="3869835"/>
                </a:lnTo>
                <a:lnTo>
                  <a:pt x="0" y="386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309262" y="7893663"/>
            <a:ext cx="9010510" cy="3885782"/>
          </a:xfrm>
          <a:custGeom>
            <a:avLst/>
            <a:gdLst/>
            <a:ahLst/>
            <a:cxnLst/>
            <a:rect r="r" b="b" t="t" l="l"/>
            <a:pathLst>
              <a:path h="3885782" w="9010510">
                <a:moveTo>
                  <a:pt x="0" y="0"/>
                </a:moveTo>
                <a:lnTo>
                  <a:pt x="9010509" y="0"/>
                </a:lnTo>
                <a:lnTo>
                  <a:pt x="9010509" y="3885782"/>
                </a:lnTo>
                <a:lnTo>
                  <a:pt x="0" y="388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1782" y="3911441"/>
            <a:ext cx="8686502" cy="2436209"/>
          </a:xfrm>
          <a:custGeom>
            <a:avLst/>
            <a:gdLst/>
            <a:ahLst/>
            <a:cxnLst/>
            <a:rect r="r" b="b" t="t" l="l"/>
            <a:pathLst>
              <a:path h="2436209" w="8686502">
                <a:moveTo>
                  <a:pt x="0" y="0"/>
                </a:moveTo>
                <a:lnTo>
                  <a:pt x="8686502" y="0"/>
                </a:lnTo>
                <a:lnTo>
                  <a:pt x="8686502" y="2436210"/>
                </a:lnTo>
                <a:lnTo>
                  <a:pt x="0" y="2436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3" t="0" r="-288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1261" y="4072034"/>
            <a:ext cx="8315305" cy="2275617"/>
          </a:xfrm>
          <a:custGeom>
            <a:avLst/>
            <a:gdLst/>
            <a:ahLst/>
            <a:cxnLst/>
            <a:rect r="r" b="b" t="t" l="l"/>
            <a:pathLst>
              <a:path h="2275617" w="8315305">
                <a:moveTo>
                  <a:pt x="0" y="0"/>
                </a:moveTo>
                <a:lnTo>
                  <a:pt x="8315305" y="0"/>
                </a:lnTo>
                <a:lnTo>
                  <a:pt x="8315305" y="2275617"/>
                </a:lnTo>
                <a:lnTo>
                  <a:pt x="0" y="2275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1682" y="7307935"/>
            <a:ext cx="16033204" cy="2264690"/>
          </a:xfrm>
          <a:custGeom>
            <a:avLst/>
            <a:gdLst/>
            <a:ahLst/>
            <a:cxnLst/>
            <a:rect r="r" b="b" t="t" l="l"/>
            <a:pathLst>
              <a:path h="2264690" w="16033204">
                <a:moveTo>
                  <a:pt x="0" y="0"/>
                </a:moveTo>
                <a:lnTo>
                  <a:pt x="16033204" y="0"/>
                </a:lnTo>
                <a:lnTo>
                  <a:pt x="16033204" y="2264690"/>
                </a:lnTo>
                <a:lnTo>
                  <a:pt x="0" y="2264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1782" y="233191"/>
            <a:ext cx="1670310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Questions &amp; Dax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498" y="3292951"/>
            <a:ext cx="5032277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Downtime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7862" y="6689445"/>
            <a:ext cx="5032277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Working Time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42010" y="3292951"/>
            <a:ext cx="5032277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Production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54834" y="1881981"/>
            <a:ext cx="10778333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Key Performance Indicators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5815" y="-1288678"/>
            <a:ext cx="8973531" cy="3869835"/>
          </a:xfrm>
          <a:custGeom>
            <a:avLst/>
            <a:gdLst/>
            <a:ahLst/>
            <a:cxnLst/>
            <a:rect r="r" b="b" t="t" l="l"/>
            <a:pathLst>
              <a:path h="3869835" w="8973531">
                <a:moveTo>
                  <a:pt x="0" y="0"/>
                </a:moveTo>
                <a:lnTo>
                  <a:pt x="8973531" y="0"/>
                </a:lnTo>
                <a:lnTo>
                  <a:pt x="8973531" y="3869835"/>
                </a:lnTo>
                <a:lnTo>
                  <a:pt x="0" y="386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309262" y="7893663"/>
            <a:ext cx="9010510" cy="3885782"/>
          </a:xfrm>
          <a:custGeom>
            <a:avLst/>
            <a:gdLst/>
            <a:ahLst/>
            <a:cxnLst/>
            <a:rect r="r" b="b" t="t" l="l"/>
            <a:pathLst>
              <a:path h="3885782" w="9010510">
                <a:moveTo>
                  <a:pt x="0" y="0"/>
                </a:moveTo>
                <a:lnTo>
                  <a:pt x="9010509" y="0"/>
                </a:lnTo>
                <a:lnTo>
                  <a:pt x="9010509" y="3885782"/>
                </a:lnTo>
                <a:lnTo>
                  <a:pt x="0" y="388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59982" y="3743150"/>
            <a:ext cx="10198166" cy="6093404"/>
          </a:xfrm>
          <a:custGeom>
            <a:avLst/>
            <a:gdLst/>
            <a:ahLst/>
            <a:cxnLst/>
            <a:rect r="r" b="b" t="t" l="l"/>
            <a:pathLst>
              <a:path h="6093404" w="10198166">
                <a:moveTo>
                  <a:pt x="0" y="0"/>
                </a:moveTo>
                <a:lnTo>
                  <a:pt x="10198166" y="0"/>
                </a:lnTo>
                <a:lnTo>
                  <a:pt x="10198166" y="6093404"/>
                </a:lnTo>
                <a:lnTo>
                  <a:pt x="0" y="6093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1782" y="233191"/>
            <a:ext cx="1245051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Questions, cont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3844" y="1736056"/>
            <a:ext cx="5032277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Top Downtime Factor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42927" y="2485907"/>
            <a:ext cx="5886799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Top Downtime Operator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5815" y="-1288678"/>
            <a:ext cx="8973531" cy="3869835"/>
          </a:xfrm>
          <a:custGeom>
            <a:avLst/>
            <a:gdLst/>
            <a:ahLst/>
            <a:cxnLst/>
            <a:rect r="r" b="b" t="t" l="l"/>
            <a:pathLst>
              <a:path h="3869835" w="8973531">
                <a:moveTo>
                  <a:pt x="0" y="0"/>
                </a:moveTo>
                <a:lnTo>
                  <a:pt x="8973531" y="0"/>
                </a:lnTo>
                <a:lnTo>
                  <a:pt x="8973531" y="3869835"/>
                </a:lnTo>
                <a:lnTo>
                  <a:pt x="0" y="386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309262" y="7893663"/>
            <a:ext cx="9010510" cy="3885782"/>
          </a:xfrm>
          <a:custGeom>
            <a:avLst/>
            <a:gdLst/>
            <a:ahLst/>
            <a:cxnLst/>
            <a:rect r="r" b="b" t="t" l="l"/>
            <a:pathLst>
              <a:path h="3885782" w="9010510">
                <a:moveTo>
                  <a:pt x="0" y="0"/>
                </a:moveTo>
                <a:lnTo>
                  <a:pt x="9010509" y="0"/>
                </a:lnTo>
                <a:lnTo>
                  <a:pt x="9010509" y="3885782"/>
                </a:lnTo>
                <a:lnTo>
                  <a:pt x="0" y="388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2440" y="2581157"/>
            <a:ext cx="7977406" cy="2915065"/>
          </a:xfrm>
          <a:custGeom>
            <a:avLst/>
            <a:gdLst/>
            <a:ahLst/>
            <a:cxnLst/>
            <a:rect r="r" b="b" t="t" l="l"/>
            <a:pathLst>
              <a:path h="2915065" w="7977406">
                <a:moveTo>
                  <a:pt x="0" y="0"/>
                </a:moveTo>
                <a:lnTo>
                  <a:pt x="7977406" y="0"/>
                </a:lnTo>
                <a:lnTo>
                  <a:pt x="7977406" y="2915064"/>
                </a:lnTo>
                <a:lnTo>
                  <a:pt x="0" y="2915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85" t="0" r="-368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30324" y="2581157"/>
            <a:ext cx="7928976" cy="2991386"/>
          </a:xfrm>
          <a:custGeom>
            <a:avLst/>
            <a:gdLst/>
            <a:ahLst/>
            <a:cxnLst/>
            <a:rect r="r" b="b" t="t" l="l"/>
            <a:pathLst>
              <a:path h="2991386" w="7928976">
                <a:moveTo>
                  <a:pt x="0" y="0"/>
                </a:moveTo>
                <a:lnTo>
                  <a:pt x="7928976" y="0"/>
                </a:lnTo>
                <a:lnTo>
                  <a:pt x="7928976" y="2991386"/>
                </a:lnTo>
                <a:lnTo>
                  <a:pt x="0" y="2991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87568" y="6314858"/>
            <a:ext cx="8449468" cy="3648634"/>
          </a:xfrm>
          <a:custGeom>
            <a:avLst/>
            <a:gdLst/>
            <a:ahLst/>
            <a:cxnLst/>
            <a:rect r="r" b="b" t="t" l="l"/>
            <a:pathLst>
              <a:path h="3648634" w="8449468">
                <a:moveTo>
                  <a:pt x="0" y="0"/>
                </a:moveTo>
                <a:lnTo>
                  <a:pt x="8449468" y="0"/>
                </a:lnTo>
                <a:lnTo>
                  <a:pt x="8449468" y="3648634"/>
                </a:lnTo>
                <a:lnTo>
                  <a:pt x="0" y="3648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1782" y="233191"/>
            <a:ext cx="1245051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Questions, cont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3844" y="1736056"/>
            <a:ext cx="5032277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Operator Error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1392" y="1736056"/>
            <a:ext cx="5886799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Error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01247" y="5696368"/>
            <a:ext cx="6149729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Operator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5815" y="4758751"/>
            <a:ext cx="17116370" cy="1255154"/>
          </a:xfrm>
          <a:custGeom>
            <a:avLst/>
            <a:gdLst/>
            <a:ahLst/>
            <a:cxnLst/>
            <a:rect r="r" b="b" t="t" l="l"/>
            <a:pathLst>
              <a:path h="1255154" w="17116370">
                <a:moveTo>
                  <a:pt x="0" y="0"/>
                </a:moveTo>
                <a:lnTo>
                  <a:pt x="17116370" y="0"/>
                </a:lnTo>
                <a:lnTo>
                  <a:pt x="17116370" y="1255154"/>
                </a:lnTo>
                <a:lnTo>
                  <a:pt x="0" y="125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625" r="0" b="-1113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5138" y="189198"/>
            <a:ext cx="1786308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0"/>
              </a:lnSpc>
            </a:pPr>
            <a:r>
              <a:rPr lang="en-US" b="true" sz="6700">
                <a:solidFill>
                  <a:srgbClr val="163F4C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Sample Visualizations Used in Power BI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5138" y="2336292"/>
            <a:ext cx="2464424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163F4C"/>
                </a:solidFill>
                <a:latin typeface="Poppins Bold"/>
                <a:ea typeface="Poppins Bold"/>
                <a:cs typeface="Poppins Bold"/>
                <a:sym typeface="Poppins Bold"/>
              </a:rPr>
              <a:t>Cards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778" y="3449111"/>
            <a:ext cx="835729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163F4C"/>
                </a:solidFill>
                <a:latin typeface="Canva Sans"/>
                <a:ea typeface="Canva Sans"/>
                <a:cs typeface="Canva Sans"/>
                <a:sym typeface="Canva Sans"/>
              </a:rPr>
              <a:t>To display key performance indicators 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3116" y="2515020"/>
            <a:ext cx="6206184" cy="3572700"/>
          </a:xfrm>
          <a:custGeom>
            <a:avLst/>
            <a:gdLst/>
            <a:ahLst/>
            <a:cxnLst/>
            <a:rect r="r" b="b" t="t" l="l"/>
            <a:pathLst>
              <a:path h="3572700" w="6206184">
                <a:moveTo>
                  <a:pt x="0" y="0"/>
                </a:moveTo>
                <a:lnTo>
                  <a:pt x="6206184" y="0"/>
                </a:lnTo>
                <a:lnTo>
                  <a:pt x="6206184" y="3572700"/>
                </a:lnTo>
                <a:lnTo>
                  <a:pt x="0" y="35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205" y="6630632"/>
            <a:ext cx="7300027" cy="3143271"/>
          </a:xfrm>
          <a:custGeom>
            <a:avLst/>
            <a:gdLst/>
            <a:ahLst/>
            <a:cxnLst/>
            <a:rect r="r" b="b" t="t" l="l"/>
            <a:pathLst>
              <a:path h="3143271" w="7300027">
                <a:moveTo>
                  <a:pt x="0" y="0"/>
                </a:moveTo>
                <a:lnTo>
                  <a:pt x="7300027" y="0"/>
                </a:lnTo>
                <a:lnTo>
                  <a:pt x="7300027" y="3143271"/>
                </a:lnTo>
                <a:lnTo>
                  <a:pt x="0" y="3143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1770" y="1587285"/>
            <a:ext cx="5093722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163F4C"/>
                </a:solidFill>
                <a:latin typeface="Poppins Bold"/>
                <a:ea typeface="Poppins Bold"/>
                <a:cs typeface="Poppins Bold"/>
                <a:sym typeface="Poppins Bold"/>
              </a:rPr>
              <a:t>Donut chart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5138" y="2410245"/>
            <a:ext cx="10420708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To Show relationships ex: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 Ratio between Operator and Machine downtime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Total Batches produced by each operator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138" y="179673"/>
            <a:ext cx="1786308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163F4C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Sample Visualizations Used in Power BI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3641" y="2065717"/>
            <a:ext cx="7849731" cy="3077783"/>
          </a:xfrm>
          <a:custGeom>
            <a:avLst/>
            <a:gdLst/>
            <a:ahLst/>
            <a:cxnLst/>
            <a:rect r="r" b="b" t="t" l="l"/>
            <a:pathLst>
              <a:path h="3077783" w="7849731">
                <a:moveTo>
                  <a:pt x="0" y="0"/>
                </a:moveTo>
                <a:lnTo>
                  <a:pt x="7849730" y="0"/>
                </a:lnTo>
                <a:lnTo>
                  <a:pt x="7849730" y="3077783"/>
                </a:lnTo>
                <a:lnTo>
                  <a:pt x="0" y="30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72" r="0" b="-56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22282" y="6191250"/>
            <a:ext cx="7671089" cy="3275296"/>
          </a:xfrm>
          <a:custGeom>
            <a:avLst/>
            <a:gdLst/>
            <a:ahLst/>
            <a:cxnLst/>
            <a:rect r="r" b="b" t="t" l="l"/>
            <a:pathLst>
              <a:path h="3275296" w="7671089">
                <a:moveTo>
                  <a:pt x="0" y="0"/>
                </a:moveTo>
                <a:lnTo>
                  <a:pt x="7671089" y="0"/>
                </a:lnTo>
                <a:lnTo>
                  <a:pt x="7671089" y="3275296"/>
                </a:lnTo>
                <a:lnTo>
                  <a:pt x="0" y="3275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1608" y="1864797"/>
            <a:ext cx="5093722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163F4C"/>
                </a:solidFill>
                <a:latin typeface="Poppins Bold"/>
                <a:ea typeface="Poppins Bold"/>
                <a:cs typeface="Poppins Bold"/>
                <a:sym typeface="Poppins Bold"/>
              </a:rPr>
              <a:t>Line chart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1608" y="3229881"/>
            <a:ext cx="9042032" cy="434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To emphasize  series of values, over time.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Ex: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Downtime over production Dates.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Daily Availability over production dates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138" y="189198"/>
            <a:ext cx="1786308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b="true" sz="6900">
                <a:solidFill>
                  <a:srgbClr val="163F4C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Sample Visualizations Used in Power BI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54684"/>
            <a:ext cx="1587172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2"/>
              </a:lnSpc>
            </a:pPr>
            <a:r>
              <a:rPr lang="en-US" b="true" sz="6293">
                <a:solidFill>
                  <a:srgbClr val="163F4C"/>
                </a:solidFill>
                <a:latin typeface="Agrandir Bold"/>
                <a:ea typeface="Agrandir Bold"/>
                <a:cs typeface="Agrandir Bold"/>
                <a:sym typeface="Agrandir Bold"/>
              </a:rPr>
              <a:t>Dashboard and Reports by Power BI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9953" y="4118181"/>
            <a:ext cx="14368094" cy="91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4"/>
              </a:lnSpc>
            </a:pPr>
            <a:r>
              <a:rPr lang="en-US" sz="5245" u="sng">
                <a:solidFill>
                  <a:srgbClr val="163F4C"/>
                </a:solidFill>
                <a:latin typeface="Arimo"/>
                <a:ea typeface="Arimo"/>
                <a:cs typeface="Arimo"/>
                <a:sym typeface="Arimo"/>
                <a:hlinkClick r:id="rId2" tooltip="https://app.powerbi.com/groups/a5f5ed24-53ab-42ef-8db8-8bc519037fc7/reports/b9188c76-313b-480e-8637-68865a4dc7e8/fd7318feb487626f725a?bookmarkGuid=6dd30ac4-d0a6-4f37-9674-8ea0780c5d33&amp;bookmarkUsage=1&amp;ctid=3375ebbd-5478-4a8b-a48a-1c135c4abbf0&amp;portalSessionId=c6e96d7f-788d-4868-b6fc-8d85ff958f92&amp;fromEntryPoint=export"/>
              </a:rPr>
              <a:t>Click Here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782" y="252241"/>
            <a:ext cx="16080472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61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Observation: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6013" y="1433341"/>
            <a:ext cx="16743287" cy="619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The Manufacture Downtime Analysis Dashboard provides a clear vision About :</a:t>
            </a: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Causes of the Downtime resulting from</a:t>
            </a:r>
            <a:r>
              <a:rPr lang="en-US" sz="3499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 operator error, machine error.</a:t>
            </a:r>
          </a:p>
          <a:p>
            <a:pPr algn="just">
              <a:lnSpc>
                <a:spcPts val="4899"/>
              </a:lnSpc>
            </a:pPr>
          </a:p>
          <a:p>
            <a:pPr algn="just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Inefficiency caused by unbalance batch distribution.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755641" indent="-377820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499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ertain operators and products show high performance, they are still affected by high downtime. 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  <a:p>
            <a:pPr algn="just">
              <a:lnSpc>
                <a:spcPts val="48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782" y="233191"/>
            <a:ext cx="1090899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26094" y="2297239"/>
            <a:ext cx="1333622" cy="1170741"/>
            <a:chOff x="0" y="0"/>
            <a:chExt cx="1778163" cy="156098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60988" cy="1560988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6CDC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17175" y="0"/>
              <a:ext cx="1560988" cy="156098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404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44165" y="106082"/>
              <a:ext cx="707008" cy="1110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b="true" sz="4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02003" y="2297239"/>
            <a:ext cx="1333622" cy="1170741"/>
            <a:chOff x="0" y="0"/>
            <a:chExt cx="1778163" cy="156098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560988" cy="156098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6CDC6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17175" y="0"/>
              <a:ext cx="1560988" cy="1560988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404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764353" y="153749"/>
              <a:ext cx="707008" cy="1110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b="true" sz="4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11782" y="4540251"/>
            <a:ext cx="906106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63F4C"/>
                </a:solidFill>
                <a:latin typeface="Canva Sans"/>
                <a:ea typeface="Canva Sans"/>
                <a:cs typeface="Canva Sans"/>
                <a:sym typeface="Canva Sans"/>
              </a:rPr>
              <a:t>56% of total downtime is due to Operator error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30875" y="2388309"/>
            <a:ext cx="7213125" cy="125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63F4C"/>
                </a:solidFill>
                <a:latin typeface="Poppins Bold"/>
                <a:ea typeface="Poppins Bold"/>
                <a:cs typeface="Poppins Bold"/>
                <a:sym typeface="Poppins Bold"/>
              </a:rPr>
              <a:t>Operator error is the leading cause of downtime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5626" y="2388309"/>
            <a:ext cx="5823674" cy="125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163F4C"/>
                </a:solidFill>
                <a:latin typeface="Poppins Bold"/>
                <a:ea typeface="Poppins Bold"/>
                <a:cs typeface="Poppins Bold"/>
                <a:sym typeface="Poppins Bold"/>
              </a:rPr>
              <a:t>Five issues cause the Majority of Delays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74743" y="4153781"/>
            <a:ext cx="8213261" cy="311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Five issues are responsible for 80% of all downtime errors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Machine Adjustment, machine failure, inventory shortage, batch change and coding errors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18138"/>
            <a:ext cx="1170741" cy="11707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1581" y="2518138"/>
            <a:ext cx="1170741" cy="1170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1824" y="2599301"/>
            <a:ext cx="530256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86976" y="2567866"/>
            <a:ext cx="1333622" cy="1170741"/>
            <a:chOff x="0" y="0"/>
            <a:chExt cx="1778163" cy="156098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60988" cy="1560988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6CD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17175" y="0"/>
              <a:ext cx="1560988" cy="156098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404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764353" y="153749"/>
              <a:ext cx="707008" cy="1110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b="true" sz="4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6373" y="5076825"/>
            <a:ext cx="7706253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Canva Sans"/>
                <a:ea typeface="Canva Sans"/>
                <a:cs typeface="Canva Sans"/>
                <a:sym typeface="Canva Sans"/>
              </a:rPr>
              <a:t>CO-600 alone handles 15 batches of total 38 Batches.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Canva Sans"/>
                <a:ea typeface="Canva Sans"/>
                <a:cs typeface="Canva Sans"/>
                <a:sym typeface="Canva Sans"/>
              </a:rPr>
              <a:t>This unbalanced production distribution can lead to increasing error and missed opportunities due to line unavailabilty.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9441" y="2637401"/>
            <a:ext cx="6212695" cy="125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63F4C"/>
                </a:solidFill>
                <a:latin typeface="Poppins Bold"/>
                <a:ea typeface="Poppins Bold"/>
                <a:cs typeface="Poppins Bold"/>
                <a:sym typeface="Poppins Bold"/>
              </a:rPr>
              <a:t>Unbalanced Batch Distribution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2549" y="2333237"/>
            <a:ext cx="6638701" cy="187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63F4C"/>
                </a:solidFill>
                <a:latin typeface="Poppins Bold"/>
                <a:ea typeface="Poppins Bold"/>
                <a:cs typeface="Poppins Bold"/>
                <a:sym typeface="Poppins Bold"/>
              </a:rPr>
              <a:t>High performing operators and products but have high bottlenecks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53787" y="5038725"/>
            <a:ext cx="7917465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163F4C"/>
                </a:solidFill>
                <a:latin typeface="Poppins"/>
                <a:ea typeface="Poppins"/>
                <a:cs typeface="Poppins"/>
                <a:sym typeface="Poppins"/>
              </a:rPr>
              <a:t>Although, Charlie shows the high work efficiency and the CO-600 product has the highest working time but both exhibit high downtime due to machine issues and batch volume pressure.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1782" y="233191"/>
            <a:ext cx="1090899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Insights, cont.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782" y="233191"/>
            <a:ext cx="1090899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022" y="2510865"/>
            <a:ext cx="15233955" cy="290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7"/>
              </a:lnSpc>
            </a:pPr>
          </a:p>
          <a:p>
            <a:pPr algn="ctr">
              <a:lnSpc>
                <a:spcPts val="4587"/>
              </a:lnSpc>
            </a:pPr>
            <a:r>
              <a:rPr lang="en-US" sz="3277" spc="-9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Reduce operator-related downtime by launching learning modules focusing on machine handling, and troubleshooting — especially for new or frequently adjusted products.</a:t>
            </a:r>
          </a:p>
          <a:p>
            <a:pPr algn="ctr">
              <a:lnSpc>
                <a:spcPts val="458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381416" y="2085825"/>
            <a:ext cx="10512036" cy="890032"/>
            <a:chOff x="0" y="0"/>
            <a:chExt cx="14016048" cy="118670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245072" y="26141"/>
              <a:ext cx="12770976" cy="81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true">
                  <a:solidFill>
                    <a:srgbClr val="1640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1- Invest in Operator Training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1245072" cy="1186709"/>
              <a:chOff x="0" y="0"/>
              <a:chExt cx="812800" cy="7747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228600" y="209550"/>
                <a:ext cx="355600" cy="400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2315220" y="5583176"/>
            <a:ext cx="1565848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2- Resolve High-Frequency Downtime Causes Proactively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81416" y="5589763"/>
            <a:ext cx="933804" cy="890032"/>
            <a:chOff x="0" y="0"/>
            <a:chExt cx="812800" cy="77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6375021"/>
            <a:ext cx="16270314" cy="311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spc="-1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 Consider </a:t>
            </a:r>
            <a:r>
              <a:rPr lang="en-US" sz="3500" spc="-1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fixing main operator error causes: </a:t>
            </a:r>
            <a:r>
              <a:rPr lang="en-US" b="true" sz="3500" spc="-10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adjustment, failures, and batch coding errors</a:t>
            </a:r>
            <a:r>
              <a:rPr lang="en-US" sz="3500" spc="-1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. This could involve reengineering processes,  or investing in automation solutions to reduce manual handling.</a:t>
            </a:r>
          </a:p>
          <a:p>
            <a:pPr algn="ctr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782" y="233191"/>
            <a:ext cx="16463386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Recommendations, cont.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416" y="3038716"/>
            <a:ext cx="16270314" cy="252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</a:pPr>
            <a:r>
              <a:rPr lang="en-US" sz="3581" spc="-1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3581" spc="-1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enly distribute batches across underutilized products (like DC-600 or OR-600) to prevent overloading high-volume lines (e.g., CO-600) and improve equipment longevity and consistency.</a:t>
            </a:r>
          </a:p>
          <a:p>
            <a:pPr algn="ctr">
              <a:lnSpc>
                <a:spcPts val="501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479446" y="2073517"/>
            <a:ext cx="15808554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3- Redistribute Workloads to Optimize Production Balance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1782" y="5622361"/>
            <a:ext cx="15658483" cy="6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4- Improve Inventory and Scheduling Accuracy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81416" y="5589763"/>
            <a:ext cx="933804" cy="890032"/>
            <a:chOff x="0" y="0"/>
            <a:chExt cx="812800" cy="774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88986" y="6860796"/>
            <a:ext cx="16270314" cy="315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4"/>
              </a:lnSpc>
            </a:pPr>
            <a:r>
              <a:rPr lang="en-US" sz="3581" spc="-1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Downtime due to inventory shortage can be resolved through Strengthening coordination between production planning and inventory management to ensure material availability aligns with batch schedules.</a:t>
            </a:r>
          </a:p>
          <a:p>
            <a:pPr algn="ctr">
              <a:lnSpc>
                <a:spcPts val="501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381416" y="2040621"/>
            <a:ext cx="933804" cy="890032"/>
            <a:chOff x="0" y="0"/>
            <a:chExt cx="812800" cy="774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782" y="233191"/>
            <a:ext cx="16463386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Recommendations, cont.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78811"/>
            <a:ext cx="16270314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500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lag high-downtime batches (like the 4 out of 11 in Charlie’s operation) for cross-functional review.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66797" y="2189762"/>
            <a:ext cx="1459250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5- Conduct Batch Audits and Reviews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007754"/>
            <a:ext cx="933804" cy="890032"/>
            <a:chOff x="0" y="0"/>
            <a:chExt cx="812800" cy="774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1782" y="1786684"/>
            <a:ext cx="16304173" cy="465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7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587"/>
              </a:lnSpc>
              <a:spcBef>
                <a:spcPct val="0"/>
              </a:spcBef>
            </a:pPr>
            <a:r>
              <a:rPr lang="en-US" sz="3277" spc="-9" strike="noStrike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The Analysis provides a clear vision for data-driven decisions and continuous process improvement in manufacturing</a:t>
            </a:r>
          </a:p>
          <a:p>
            <a:pPr algn="just" marL="0" indent="0" lvl="0">
              <a:lnSpc>
                <a:spcPts val="4587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587"/>
              </a:lnSpc>
              <a:spcBef>
                <a:spcPct val="0"/>
              </a:spcBef>
            </a:pPr>
            <a:r>
              <a:rPr lang="en-US" b="true" sz="3277" spc="-9" strike="noStrike" u="non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The key to improve operational efficiency</a:t>
            </a:r>
            <a:r>
              <a:rPr lang="en-US" sz="3277" spc="-9" strike="noStrike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277" spc="-9" strike="noStrike" u="none">
                <a:solidFill>
                  <a:srgbClr val="16404D"/>
                </a:solidFill>
                <a:latin typeface="Poppins Bold"/>
                <a:ea typeface="Poppins Bold"/>
                <a:cs typeface="Poppins Bold"/>
                <a:sym typeface="Poppins Bold"/>
              </a:rPr>
              <a:t>is:</a:t>
            </a:r>
            <a:r>
              <a:rPr lang="en-US" sz="3277" spc="-9" strike="noStrike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707518" indent="-353759" lvl="1">
              <a:lnSpc>
                <a:spcPts val="4587"/>
              </a:lnSpc>
              <a:buFont typeface="Arial"/>
              <a:buChar char="•"/>
            </a:pPr>
            <a:r>
              <a:rPr lang="en-US" sz="3277" spc="-9" strike="noStrike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Training Modules</a:t>
            </a:r>
          </a:p>
          <a:p>
            <a:pPr algn="just" marL="707518" indent="-353759" lvl="1">
              <a:lnSpc>
                <a:spcPts val="4587"/>
              </a:lnSpc>
              <a:buFont typeface="Arial"/>
              <a:buChar char="•"/>
            </a:pPr>
            <a:r>
              <a:rPr lang="en-US" sz="3277" spc="-9" strike="noStrike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Periodic Machine Maintenance</a:t>
            </a:r>
          </a:p>
          <a:p>
            <a:pPr algn="just" marL="707518" indent="-353759" lvl="1">
              <a:lnSpc>
                <a:spcPts val="4587"/>
              </a:lnSpc>
              <a:buFont typeface="Arial"/>
              <a:buChar char="•"/>
            </a:pPr>
            <a:r>
              <a:rPr lang="en-US" sz="3277" spc="-9" strike="noStrike" u="none">
                <a:solidFill>
                  <a:srgbClr val="16404D"/>
                </a:solidFill>
                <a:latin typeface="Poppins"/>
                <a:ea typeface="Poppins"/>
                <a:cs typeface="Poppins"/>
                <a:sym typeface="Poppins"/>
              </a:rPr>
              <a:t>Optimized workload distribution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1782" y="233191"/>
            <a:ext cx="1090899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b="true" sz="72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1753" y="9039374"/>
            <a:ext cx="15395893" cy="799364"/>
            <a:chOff x="0" y="0"/>
            <a:chExt cx="7827334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27334" cy="406400"/>
            </a:xfrm>
            <a:custGeom>
              <a:avLst/>
              <a:gdLst/>
              <a:ahLst/>
              <a:cxnLst/>
              <a:rect r="r" b="b" t="t" l="l"/>
              <a:pathLst>
                <a:path h="406400" w="7827334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82733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43479" y="9039374"/>
            <a:ext cx="15395893" cy="799364"/>
            <a:chOff x="0" y="0"/>
            <a:chExt cx="7827334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27334" cy="406400"/>
            </a:xfrm>
            <a:custGeom>
              <a:avLst/>
              <a:gdLst/>
              <a:ahLst/>
              <a:cxnLst/>
              <a:rect r="r" b="b" t="t" l="l"/>
              <a:pathLst>
                <a:path h="406400" w="7827334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404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82733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642166" y="-1028700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8" y="0"/>
                </a:lnTo>
                <a:lnTo>
                  <a:pt x="5234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67956" y="6636545"/>
            <a:ext cx="2257662" cy="1774810"/>
          </a:xfrm>
          <a:custGeom>
            <a:avLst/>
            <a:gdLst/>
            <a:ahLst/>
            <a:cxnLst/>
            <a:rect r="r" b="b" t="t" l="l"/>
            <a:pathLst>
              <a:path h="1774810" w="2257662">
                <a:moveTo>
                  <a:pt x="0" y="0"/>
                </a:moveTo>
                <a:lnTo>
                  <a:pt x="2257663" y="0"/>
                </a:lnTo>
                <a:lnTo>
                  <a:pt x="2257663" y="1774810"/>
                </a:lnTo>
                <a:lnTo>
                  <a:pt x="0" y="1774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89503" y="3983501"/>
            <a:ext cx="10908994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7700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Q &amp; A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3061" y="-202327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7" y="0"/>
                </a:lnTo>
                <a:lnTo>
                  <a:pt x="52342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58209" y="1602737"/>
            <a:ext cx="2429896" cy="1910207"/>
          </a:xfrm>
          <a:custGeom>
            <a:avLst/>
            <a:gdLst/>
            <a:ahLst/>
            <a:cxnLst/>
            <a:rect r="r" b="b" t="t" l="l"/>
            <a:pathLst>
              <a:path h="1910207" w="2429896">
                <a:moveTo>
                  <a:pt x="0" y="0"/>
                </a:moveTo>
                <a:lnTo>
                  <a:pt x="2429896" y="0"/>
                </a:lnTo>
                <a:lnTo>
                  <a:pt x="2429896" y="1910207"/>
                </a:lnTo>
                <a:lnTo>
                  <a:pt x="0" y="1910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2362" y="7641744"/>
            <a:ext cx="2395878" cy="1883465"/>
          </a:xfrm>
          <a:custGeom>
            <a:avLst/>
            <a:gdLst/>
            <a:ahLst/>
            <a:cxnLst/>
            <a:rect r="r" b="b" t="t" l="l"/>
            <a:pathLst>
              <a:path h="1883465" w="2395878">
                <a:moveTo>
                  <a:pt x="0" y="0"/>
                </a:moveTo>
                <a:lnTo>
                  <a:pt x="2395878" y="0"/>
                </a:lnTo>
                <a:lnTo>
                  <a:pt x="2395878" y="1883464"/>
                </a:lnTo>
                <a:lnTo>
                  <a:pt x="0" y="188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98740" y="1641409"/>
            <a:ext cx="6179500" cy="6769946"/>
            <a:chOff x="0" y="0"/>
            <a:chExt cx="1124862" cy="12323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4862" cy="1232342"/>
            </a:xfrm>
            <a:custGeom>
              <a:avLst/>
              <a:gdLst/>
              <a:ahLst/>
              <a:cxnLst/>
              <a:rect r="r" b="b" t="t" l="l"/>
              <a:pathLst>
                <a:path h="1232342" w="1124862">
                  <a:moveTo>
                    <a:pt x="50114" y="0"/>
                  </a:moveTo>
                  <a:lnTo>
                    <a:pt x="1074749" y="0"/>
                  </a:lnTo>
                  <a:cubicBezTo>
                    <a:pt x="1088040" y="0"/>
                    <a:pt x="1100786" y="5280"/>
                    <a:pt x="1110185" y="14678"/>
                  </a:cubicBezTo>
                  <a:cubicBezTo>
                    <a:pt x="1119583" y="24076"/>
                    <a:pt x="1124862" y="36823"/>
                    <a:pt x="1124862" y="50114"/>
                  </a:cubicBezTo>
                  <a:lnTo>
                    <a:pt x="1124862" y="1182228"/>
                  </a:lnTo>
                  <a:cubicBezTo>
                    <a:pt x="1124862" y="1195519"/>
                    <a:pt x="1119583" y="1208266"/>
                    <a:pt x="1110185" y="1217664"/>
                  </a:cubicBezTo>
                  <a:cubicBezTo>
                    <a:pt x="1100786" y="1227062"/>
                    <a:pt x="1088040" y="1232342"/>
                    <a:pt x="1074749" y="1232342"/>
                  </a:cubicBezTo>
                  <a:lnTo>
                    <a:pt x="50114" y="1232342"/>
                  </a:lnTo>
                  <a:cubicBezTo>
                    <a:pt x="36823" y="1232342"/>
                    <a:pt x="24076" y="1227062"/>
                    <a:pt x="14678" y="1217664"/>
                  </a:cubicBezTo>
                  <a:cubicBezTo>
                    <a:pt x="5280" y="1208266"/>
                    <a:pt x="0" y="1195519"/>
                    <a:pt x="0" y="1182228"/>
                  </a:cubicBezTo>
                  <a:lnTo>
                    <a:pt x="0" y="50114"/>
                  </a:lnTo>
                  <a:cubicBezTo>
                    <a:pt x="0" y="36823"/>
                    <a:pt x="5280" y="24076"/>
                    <a:pt x="14678" y="14678"/>
                  </a:cubicBezTo>
                  <a:cubicBezTo>
                    <a:pt x="24076" y="5280"/>
                    <a:pt x="36823" y="0"/>
                    <a:pt x="50114" y="0"/>
                  </a:cubicBezTo>
                  <a:close/>
                </a:path>
              </a:pathLst>
            </a:custGeom>
            <a:blipFill>
              <a:blip r:embed="rId6"/>
              <a:stretch>
                <a:fillRect l="-47382" t="0" r="-4738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693481" y="1641409"/>
            <a:ext cx="3086100" cy="6769946"/>
            <a:chOff x="0" y="0"/>
            <a:chExt cx="812800" cy="17830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83031"/>
            </a:xfrm>
            <a:custGeom>
              <a:avLst/>
              <a:gdLst/>
              <a:ahLst/>
              <a:cxnLst/>
              <a:rect r="r" b="b" t="t" l="l"/>
              <a:pathLst>
                <a:path h="1783031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655090"/>
                  </a:lnTo>
                  <a:cubicBezTo>
                    <a:pt x="812800" y="1689022"/>
                    <a:pt x="799321" y="1721564"/>
                    <a:pt x="775327" y="1745558"/>
                  </a:cubicBezTo>
                  <a:cubicBezTo>
                    <a:pt x="751333" y="1769551"/>
                    <a:pt x="718791" y="1783031"/>
                    <a:pt x="684859" y="1783031"/>
                  </a:cubicBezTo>
                  <a:lnTo>
                    <a:pt x="127941" y="1783031"/>
                  </a:lnTo>
                  <a:cubicBezTo>
                    <a:pt x="94009" y="1783031"/>
                    <a:pt x="61467" y="1769551"/>
                    <a:pt x="37473" y="1745558"/>
                  </a:cubicBezTo>
                  <a:cubicBezTo>
                    <a:pt x="13479" y="1721564"/>
                    <a:pt x="0" y="1689022"/>
                    <a:pt x="0" y="1655090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812800" cy="184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50822" y="152400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8" y="0"/>
                </a:lnTo>
                <a:lnTo>
                  <a:pt x="52342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67956" y="6636545"/>
            <a:ext cx="2257662" cy="1774810"/>
          </a:xfrm>
          <a:custGeom>
            <a:avLst/>
            <a:gdLst/>
            <a:ahLst/>
            <a:cxnLst/>
            <a:rect r="r" b="b" t="t" l="l"/>
            <a:pathLst>
              <a:path h="1774810" w="2257662">
                <a:moveTo>
                  <a:pt x="0" y="0"/>
                </a:moveTo>
                <a:lnTo>
                  <a:pt x="2257663" y="0"/>
                </a:lnTo>
                <a:lnTo>
                  <a:pt x="2257663" y="1774810"/>
                </a:lnTo>
                <a:lnTo>
                  <a:pt x="0" y="1774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387815" y="3134194"/>
            <a:ext cx="8871485" cy="4159885"/>
            <a:chOff x="0" y="0"/>
            <a:chExt cx="2336523" cy="1095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6523" cy="1095608"/>
            </a:xfrm>
            <a:custGeom>
              <a:avLst/>
              <a:gdLst/>
              <a:ahLst/>
              <a:cxnLst/>
              <a:rect r="r" b="b" t="t" l="l"/>
              <a:pathLst>
                <a:path h="1095608" w="2336523">
                  <a:moveTo>
                    <a:pt x="44506" y="0"/>
                  </a:moveTo>
                  <a:lnTo>
                    <a:pt x="2292016" y="0"/>
                  </a:lnTo>
                  <a:cubicBezTo>
                    <a:pt x="2316597" y="0"/>
                    <a:pt x="2336523" y="19926"/>
                    <a:pt x="2336523" y="44506"/>
                  </a:cubicBezTo>
                  <a:lnTo>
                    <a:pt x="2336523" y="1051101"/>
                  </a:lnTo>
                  <a:cubicBezTo>
                    <a:pt x="2336523" y="1062905"/>
                    <a:pt x="2331834" y="1074225"/>
                    <a:pt x="2323487" y="1082572"/>
                  </a:cubicBezTo>
                  <a:cubicBezTo>
                    <a:pt x="2315141" y="1090919"/>
                    <a:pt x="2303820" y="1095608"/>
                    <a:pt x="2292016" y="1095608"/>
                  </a:cubicBezTo>
                  <a:lnTo>
                    <a:pt x="44506" y="1095608"/>
                  </a:lnTo>
                  <a:cubicBezTo>
                    <a:pt x="19926" y="1095608"/>
                    <a:pt x="0" y="1075681"/>
                    <a:pt x="0" y="1051101"/>
                  </a:cubicBezTo>
                  <a:lnTo>
                    <a:pt x="0" y="44506"/>
                  </a:lnTo>
                  <a:cubicBezTo>
                    <a:pt x="0" y="19926"/>
                    <a:pt x="19926" y="0"/>
                    <a:pt x="44506" y="0"/>
                  </a:cubicBezTo>
                  <a:close/>
                </a:path>
              </a:pathLst>
            </a:custGeom>
            <a:solidFill>
              <a:srgbClr val="A6CDC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336523" cy="116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518162" indent="-259081" lvl="1">
                <a:lnSpc>
                  <a:spcPts val="3360"/>
                </a:lnSpc>
                <a:buFont typeface="Arial"/>
                <a:buChar char="•"/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88105" y="7645544"/>
            <a:ext cx="5234268" cy="4114800"/>
          </a:xfrm>
          <a:custGeom>
            <a:avLst/>
            <a:gdLst/>
            <a:ahLst/>
            <a:cxnLst/>
            <a:rect r="r" b="b" t="t" l="l"/>
            <a:pathLst>
              <a:path h="4114800" w="5234268">
                <a:moveTo>
                  <a:pt x="0" y="0"/>
                </a:moveTo>
                <a:lnTo>
                  <a:pt x="5234267" y="0"/>
                </a:lnTo>
                <a:lnTo>
                  <a:pt x="52342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75520" y="4545663"/>
            <a:ext cx="3696074" cy="115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59"/>
              </a:lnSpc>
            </a:pPr>
            <a:r>
              <a:rPr lang="en-US" sz="7353" b="true">
                <a:solidFill>
                  <a:srgbClr val="16404D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DAG0wNSs-QQ</dc:identifier>
  <dcterms:modified xsi:type="dcterms:W3CDTF">2011-08-01T06:04:30Z</dcterms:modified>
  <cp:revision>1</cp:revision>
  <dc:title>Manufaturing Downtime Analysis</dc:title>
</cp:coreProperties>
</file>